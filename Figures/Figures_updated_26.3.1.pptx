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4" r:id="rId4"/>
    <p:sldId id="263" r:id="rId5"/>
    <p:sldId id="262" r:id="rId6"/>
    <p:sldId id="257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" id="{71FA2A3F-3531-4A27-83D4-7D16AD6B785C}">
          <p14:sldIdLst>
            <p14:sldId id="256"/>
            <p14:sldId id="265"/>
          </p14:sldIdLst>
        </p14:section>
        <p14:section name="2" id="{AF1FD6E8-99FE-49B9-B54A-86DF2ECA9230}">
          <p14:sldIdLst>
            <p14:sldId id="264"/>
            <p14:sldId id="263"/>
            <p14:sldId id="262"/>
          </p14:sldIdLst>
        </p14:section>
        <p14:section name="3" id="{ACF703F0-2B99-4035-8C65-F5784426CC6F}">
          <p14:sldIdLst>
            <p14:sldId id="257"/>
            <p14:sldId id="261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B36B51-5536-48D1-8143-B63815C1AB18}" v="1716" dt="2026-02-28T05:02:07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328127F-943E-91CD-1A7D-ED27DFA1DE3E}"/>
              </a:ext>
            </a:extLst>
          </p:cNvPr>
          <p:cNvSpPr txBox="1"/>
          <p:nvPr/>
        </p:nvSpPr>
        <p:spPr>
          <a:xfrm>
            <a:off x="-1534" y="961079"/>
            <a:ext cx="38897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(a)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 Spring season 2020</a:t>
            </a:r>
            <a:endParaRPr lang="ja-JP" altLang="en-US" sz="16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D81D30-FDE4-A293-1A42-610D7CF30F04}"/>
              </a:ext>
            </a:extLst>
          </p:cNvPr>
          <p:cNvSpPr txBox="1"/>
          <p:nvPr/>
        </p:nvSpPr>
        <p:spPr>
          <a:xfrm>
            <a:off x="6253017" y="966936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(b)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Spring season 2020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pic>
        <p:nvPicPr>
          <p:cNvPr id="2" name="Picture 1" descr="A graph of different types of seed mixes&#10;&#10;AI-generated content may be incorrect.">
            <a:extLst>
              <a:ext uri="{FF2B5EF4-FFF2-40B4-BE49-F238E27FC236}">
                <a16:creationId xmlns:a16="http://schemas.microsoft.com/office/drawing/2014/main" id="{FB299679-977D-8D40-D89E-8B98AD006A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" t="844" r="1464" b="615"/>
          <a:stretch>
            <a:fillRect/>
          </a:stretch>
        </p:blipFill>
        <p:spPr>
          <a:xfrm>
            <a:off x="6255349" y="1364837"/>
            <a:ext cx="5888165" cy="4057601"/>
          </a:xfrm>
          <a:prstGeom prst="rect">
            <a:avLst/>
          </a:prstGeom>
        </p:spPr>
      </p:pic>
      <p:pic>
        <p:nvPicPr>
          <p:cNvPr id="5" name="Picture 4" descr="A graph of different types of seed mixes&#10;&#10;AI-generated content may be incorrect.">
            <a:extLst>
              <a:ext uri="{FF2B5EF4-FFF2-40B4-BE49-F238E27FC236}">
                <a16:creationId xmlns:a16="http://schemas.microsoft.com/office/drawing/2014/main" id="{73E49ED3-9FA6-1650-8344-2253E2C32C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" r="996" b="2119"/>
          <a:stretch>
            <a:fillRect/>
          </a:stretch>
        </p:blipFill>
        <p:spPr>
          <a:xfrm>
            <a:off x="-1400" y="1362745"/>
            <a:ext cx="6125760" cy="40643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D0557C-F786-BA64-CDA8-EEFB29BF9BF6}"/>
              </a:ext>
            </a:extLst>
          </p:cNvPr>
          <p:cNvSpPr txBox="1"/>
          <p:nvPr/>
        </p:nvSpPr>
        <p:spPr>
          <a:xfrm>
            <a:off x="703863" y="1486887"/>
            <a:ext cx="2100884" cy="46166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Seed Mix: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0.683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98CA0-3564-9E1B-A9C8-2027CC5DD7CB}"/>
              </a:ext>
            </a:extLst>
          </p:cNvPr>
          <p:cNvSpPr txBox="1"/>
          <p:nvPr/>
        </p:nvSpPr>
        <p:spPr>
          <a:xfrm>
            <a:off x="6816016" y="1431450"/>
            <a:ext cx="2100884" cy="46166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Seed Mix: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0.961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EA4C8-F98D-21F8-E1F7-B5957FE9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different types of seeding&#10;&#10;AI-generated content may be incorrect.">
            <a:extLst>
              <a:ext uri="{FF2B5EF4-FFF2-40B4-BE49-F238E27FC236}">
                <a16:creationId xmlns:a16="http://schemas.microsoft.com/office/drawing/2014/main" id="{A68878D5-9F77-1AE4-788C-AE579F8DD6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95" b="2100"/>
          <a:stretch>
            <a:fillRect/>
          </a:stretch>
        </p:blipFill>
        <p:spPr>
          <a:xfrm>
            <a:off x="39809" y="1710525"/>
            <a:ext cx="6432201" cy="3882013"/>
          </a:xfrm>
          <a:prstGeom prst="rect">
            <a:avLst/>
          </a:prstGeom>
        </p:spPr>
      </p:pic>
      <p:pic>
        <p:nvPicPr>
          <p:cNvPr id="10" name="Picture 9" descr="A graph of different types of seeding&#10;&#10;AI-generated content may be incorrect.">
            <a:extLst>
              <a:ext uri="{FF2B5EF4-FFF2-40B4-BE49-F238E27FC236}">
                <a16:creationId xmlns:a16="http://schemas.microsoft.com/office/drawing/2014/main" id="{6D2DFC17-A208-74B3-74B4-4F8093347E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4" b="1983"/>
          <a:stretch>
            <a:fillRect/>
          </a:stretch>
        </p:blipFill>
        <p:spPr>
          <a:xfrm>
            <a:off x="6465328" y="1709426"/>
            <a:ext cx="5598106" cy="38858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1FA59B-4FD3-6922-AA36-57C89E32B3F5}"/>
              </a:ext>
            </a:extLst>
          </p:cNvPr>
          <p:cNvSpPr txBox="1"/>
          <p:nvPr/>
        </p:nvSpPr>
        <p:spPr>
          <a:xfrm>
            <a:off x="216465" y="1214321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(c)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Post-drought spring seasons</a:t>
            </a:r>
            <a:endParaRPr lang="en-US" altLang="ja-JP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CCAB0-D349-4E7C-E31D-47C5E177602B}"/>
              </a:ext>
            </a:extLst>
          </p:cNvPr>
          <p:cNvSpPr txBox="1"/>
          <p:nvPr/>
        </p:nvSpPr>
        <p:spPr>
          <a:xfrm>
            <a:off x="6465730" y="1211211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(d)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Post-drought spring seasons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5672D-4529-AF36-6D57-9677DF9DEB43}"/>
              </a:ext>
            </a:extLst>
          </p:cNvPr>
          <p:cNvSpPr txBox="1"/>
          <p:nvPr/>
        </p:nvSpPr>
        <p:spPr>
          <a:xfrm>
            <a:off x="2667772" y="1813830"/>
            <a:ext cx="15021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Seed Mix: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 dirty="0">
                <a:latin typeface="Times New Roman"/>
                <a:ea typeface="ＭＳ Ｐゴシック"/>
                <a:cs typeface="Times New Roman"/>
              </a:rPr>
              <a:t>Year: </a:t>
            </a:r>
            <a:r>
              <a:rPr lang="ja-JP" sz="1200" i="1" dirty="0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&lt; 0.001</a:t>
            </a:r>
            <a:endParaRPr lang="en-US" altLang="ja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4CB37-997B-A15E-C28B-BFFF0C2FF5D2}"/>
              </a:ext>
            </a:extLst>
          </p:cNvPr>
          <p:cNvSpPr txBox="1"/>
          <p:nvPr/>
        </p:nvSpPr>
        <p:spPr>
          <a:xfrm>
            <a:off x="7024230" y="1810737"/>
            <a:ext cx="21008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Seed Mix: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0.009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sz="1200">
                <a:latin typeface="Times New Roman"/>
                <a:ea typeface="ＭＳ Ｐゴシック"/>
                <a:cs typeface="Times New Roman"/>
              </a:rPr>
              <a:t>Year: </a:t>
            </a:r>
            <a:r>
              <a:rPr lang="ja-JP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&lt; 0.001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506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4E91-EE00-E889-ABEF-CC2CF5475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896188-A770-EDEE-1C81-589640625E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5" t="-55" r="957" b="641"/>
          <a:stretch>
            <a:fillRect/>
          </a:stretch>
        </p:blipFill>
        <p:spPr>
          <a:xfrm>
            <a:off x="193142" y="1298210"/>
            <a:ext cx="6425119" cy="4117557"/>
          </a:xfrm>
          <a:prstGeom prst="rect">
            <a:avLst/>
          </a:prstGeom>
        </p:spPr>
      </p:pic>
      <p:pic>
        <p:nvPicPr>
          <p:cNvPr id="2" name="Picture 1" descr="A graph of different species&#10;&#10;AI-generated content may be incorrect.">
            <a:extLst>
              <a:ext uri="{FF2B5EF4-FFF2-40B4-BE49-F238E27FC236}">
                <a16:creationId xmlns:a16="http://schemas.microsoft.com/office/drawing/2014/main" id="{7989E3A6-2AA8-5327-4331-63FCEC7B1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46" b="1042"/>
          <a:stretch>
            <a:fillRect/>
          </a:stretch>
        </p:blipFill>
        <p:spPr>
          <a:xfrm>
            <a:off x="6610070" y="1297081"/>
            <a:ext cx="5516074" cy="41204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5DF560-3AEE-FEF8-9D20-DDA6099CC12E}"/>
              </a:ext>
            </a:extLst>
          </p:cNvPr>
          <p:cNvSpPr txBox="1"/>
          <p:nvPr/>
        </p:nvSpPr>
        <p:spPr>
          <a:xfrm>
            <a:off x="197358" y="1007779"/>
            <a:ext cx="38897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(a)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 Spring season 2020</a:t>
            </a:r>
            <a:endParaRPr lang="ja-JP" altLang="en-US" sz="16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9301EF-DF91-3CC5-5CCD-2AF3D0693052}"/>
              </a:ext>
            </a:extLst>
          </p:cNvPr>
          <p:cNvSpPr txBox="1"/>
          <p:nvPr/>
        </p:nvSpPr>
        <p:spPr>
          <a:xfrm>
            <a:off x="6611084" y="1004671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(b)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Spring season 2020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935E3-C9E0-520D-FFDA-CCE452E12E84}"/>
              </a:ext>
            </a:extLst>
          </p:cNvPr>
          <p:cNvSpPr txBox="1"/>
          <p:nvPr/>
        </p:nvSpPr>
        <p:spPr>
          <a:xfrm>
            <a:off x="755873" y="1393451"/>
            <a:ext cx="21008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MAT95: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0.011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Site * MAT95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: </a:t>
            </a:r>
            <a:r>
              <a:rPr lang="ja-JP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&lt; 0.001</a:t>
            </a:r>
            <a:endParaRPr lang="ja-JP" altLang="en-US" sz="120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8780B-D4EF-036B-BE27-0BC2CF9A9CEE}"/>
              </a:ext>
            </a:extLst>
          </p:cNvPr>
          <p:cNvSpPr txBox="1"/>
          <p:nvPr/>
        </p:nvSpPr>
        <p:spPr>
          <a:xfrm>
            <a:off x="7702246" y="1394329"/>
            <a:ext cx="2100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sz="1200" i="1" dirty="0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en-US" altLang="ja-JP" sz="1200" i="1" dirty="0">
                <a:latin typeface="Times New Roman"/>
                <a:ea typeface="ＭＳ Ｐゴシック"/>
                <a:cs typeface="Times New Roman"/>
              </a:rPr>
              <a:t>=</a:t>
            </a:r>
            <a:r>
              <a:rPr lang="ja-JP" altLang="en-US" sz="1200" dirty="0">
                <a:latin typeface="Times New Roman"/>
                <a:ea typeface="ＭＳ Ｐゴシック"/>
                <a:cs typeface="Times New Roman"/>
              </a:rPr>
              <a:t> 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0.0</a:t>
            </a: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26</a:t>
            </a:r>
            <a:br>
              <a:rPr lang="ja-JP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sz="1200">
                <a:latin typeface="Times New Roman"/>
                <a:ea typeface="ＭＳ Ｐゴシック"/>
                <a:cs typeface="Times New Roman"/>
              </a:rPr>
              <a:t>MAT95: </a:t>
            </a:r>
            <a:r>
              <a:rPr lang="ja-JP" sz="1200" i="1">
                <a:latin typeface="Times New Roman"/>
                <a:ea typeface="ＭＳ Ｐゴシック"/>
                <a:cs typeface="Times New Roman"/>
              </a:rPr>
              <a:t>p &lt;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 0.0</a:t>
            </a: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0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2639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30EF-CC14-A9E0-0540-DB53BBB08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A23178-EDFF-AACC-2999-7757A225A599}"/>
              </a:ext>
            </a:extLst>
          </p:cNvPr>
          <p:cNvSpPr txBox="1"/>
          <p:nvPr/>
        </p:nvSpPr>
        <p:spPr>
          <a:xfrm>
            <a:off x="402169" y="1514681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(c)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Post-drought fall season 2021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16F43-6B75-0045-B8B6-40D6AB9DE390}"/>
              </a:ext>
            </a:extLst>
          </p:cNvPr>
          <p:cNvSpPr txBox="1"/>
          <p:nvPr/>
        </p:nvSpPr>
        <p:spPr>
          <a:xfrm>
            <a:off x="7809617" y="1510981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(d)  </a:t>
            </a:r>
            <a:r>
              <a:rPr lang="en-US" altLang="ja-JP" sz="1600">
                <a:latin typeface="Times New Roman"/>
                <a:ea typeface="ＭＳ Ｐゴシック"/>
                <a:cs typeface="Times New Roman"/>
              </a:rPr>
              <a:t>P</a:t>
            </a:r>
            <a:r>
              <a:rPr lang="ja-JP" sz="1600">
                <a:latin typeface="Times New Roman"/>
                <a:ea typeface="ＭＳ Ｐゴシック"/>
                <a:cs typeface="Times New Roman"/>
              </a:rPr>
              <a:t>ost-drought fall season 2021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pic>
        <p:nvPicPr>
          <p:cNvPr id="2" name="Picture 1" descr="A graph of a number of species&#10;&#10;AI-generated content may be incorrect.">
            <a:extLst>
              <a:ext uri="{FF2B5EF4-FFF2-40B4-BE49-F238E27FC236}">
                <a16:creationId xmlns:a16="http://schemas.microsoft.com/office/drawing/2014/main" id="{AAC710C6-2268-B651-55D7-6893891C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26" b="571"/>
          <a:stretch>
            <a:fillRect/>
          </a:stretch>
        </p:blipFill>
        <p:spPr>
          <a:xfrm>
            <a:off x="7806297" y="1843088"/>
            <a:ext cx="3902698" cy="3429467"/>
          </a:xfrm>
          <a:prstGeom prst="rect">
            <a:avLst/>
          </a:prstGeom>
        </p:spPr>
      </p:pic>
      <p:pic>
        <p:nvPicPr>
          <p:cNvPr id="3" name="Picture 2" descr="A graph of a number of species&#10;&#10;AI-generated content may be incorrect.">
            <a:extLst>
              <a:ext uri="{FF2B5EF4-FFF2-40B4-BE49-F238E27FC236}">
                <a16:creationId xmlns:a16="http://schemas.microsoft.com/office/drawing/2014/main" id="{4D47B02B-C4A5-139D-D66E-E8B97159BF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5" t="-65" r="583" b="441"/>
          <a:stretch>
            <a:fillRect/>
          </a:stretch>
        </p:blipFill>
        <p:spPr>
          <a:xfrm>
            <a:off x="402891" y="1843720"/>
            <a:ext cx="7278909" cy="34304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65DB41-E3B0-DAAA-3432-34F7D927D756}"/>
              </a:ext>
            </a:extLst>
          </p:cNvPr>
          <p:cNvSpPr txBox="1"/>
          <p:nvPr/>
        </p:nvSpPr>
        <p:spPr>
          <a:xfrm>
            <a:off x="864730" y="1910522"/>
            <a:ext cx="21008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=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 0.019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MAT95: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0.896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Site * MAT95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: </a:t>
            </a:r>
            <a:r>
              <a:rPr lang="ja-JP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en-US" altLang="ja-JP" sz="1200" i="1" dirty="0">
                <a:latin typeface="Times New Roman"/>
                <a:ea typeface="ＭＳ Ｐゴシック"/>
                <a:cs typeface="Times New Roman"/>
              </a:rPr>
              <a:t>=</a:t>
            </a:r>
            <a:r>
              <a:rPr lang="ja-JP" altLang="en-US" sz="1200" dirty="0">
                <a:latin typeface="Times New Roman"/>
                <a:ea typeface="ＭＳ Ｐゴシック"/>
                <a:cs typeface="Times New Roman"/>
              </a:rPr>
              <a:t> 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0.01</a:t>
            </a: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1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6A569-77B3-374F-D296-42EF1C07291A}"/>
              </a:ext>
            </a:extLst>
          </p:cNvPr>
          <p:cNvSpPr txBox="1"/>
          <p:nvPr/>
        </p:nvSpPr>
        <p:spPr>
          <a:xfrm>
            <a:off x="8248872" y="1910521"/>
            <a:ext cx="2100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&lt;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 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MAT95: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0.006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397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D343-995C-CC1A-5DCC-141F29DB7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59C23D-E601-3131-60CE-C0BDDC87D46D}"/>
              </a:ext>
            </a:extLst>
          </p:cNvPr>
          <p:cNvSpPr txBox="1"/>
          <p:nvPr/>
        </p:nvSpPr>
        <p:spPr>
          <a:xfrm>
            <a:off x="142140" y="1294273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(e)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Post-drought spring seasons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ADD11-B3CF-E63C-B1B9-DDBCDA9037A0}"/>
              </a:ext>
            </a:extLst>
          </p:cNvPr>
          <p:cNvSpPr txBox="1"/>
          <p:nvPr/>
        </p:nvSpPr>
        <p:spPr>
          <a:xfrm>
            <a:off x="7056880" y="1291163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(f)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Post-drought spring seasons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pic>
        <p:nvPicPr>
          <p:cNvPr id="2" name="Picture 1" descr="A graph of different species&#10;&#10;AI-generated content may be incorrect.">
            <a:extLst>
              <a:ext uri="{FF2B5EF4-FFF2-40B4-BE49-F238E27FC236}">
                <a16:creationId xmlns:a16="http://schemas.microsoft.com/office/drawing/2014/main" id="{5549FEB4-E698-463E-A06D-D7AA8FEBB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4" r="555" b="349"/>
          <a:stretch>
            <a:fillRect/>
          </a:stretch>
        </p:blipFill>
        <p:spPr>
          <a:xfrm>
            <a:off x="7054429" y="1605803"/>
            <a:ext cx="4854902" cy="33834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0996F5-A29C-B00D-64AC-E1291F2B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4" t="-77" r="530" b="158"/>
          <a:stretch>
            <a:fillRect/>
          </a:stretch>
        </p:blipFill>
        <p:spPr>
          <a:xfrm>
            <a:off x="142462" y="1606561"/>
            <a:ext cx="6907047" cy="33859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EA4E28-A7AF-0738-AFDC-414CC511DB34}"/>
              </a:ext>
            </a:extLst>
          </p:cNvPr>
          <p:cNvSpPr txBox="1"/>
          <p:nvPr/>
        </p:nvSpPr>
        <p:spPr>
          <a:xfrm>
            <a:off x="3722230" y="1692808"/>
            <a:ext cx="21008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0.771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MAT95: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&lt;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 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Site * MAT95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: </a:t>
            </a:r>
            <a:r>
              <a:rPr lang="ja-JP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en-US" altLang="ja-JP" sz="1200" i="1" dirty="0">
                <a:latin typeface="Times New Roman"/>
                <a:ea typeface="ＭＳ Ｐゴシック"/>
                <a:cs typeface="Times New Roman"/>
              </a:rPr>
              <a:t>=</a:t>
            </a:r>
            <a:r>
              <a:rPr lang="ja-JP" altLang="en-US" sz="1200" dirty="0">
                <a:latin typeface="Times New Roman"/>
                <a:ea typeface="ＭＳ Ｐゴシック"/>
                <a:cs typeface="Times New Roman"/>
              </a:rPr>
              <a:t> 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0.</a:t>
            </a: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737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F0060E-6BB1-0FF7-05D1-0055DBC5BB97}"/>
              </a:ext>
            </a:extLst>
          </p:cNvPr>
          <p:cNvSpPr txBox="1"/>
          <p:nvPr/>
        </p:nvSpPr>
        <p:spPr>
          <a:xfrm>
            <a:off x="7568516" y="1692808"/>
            <a:ext cx="21008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=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 0.016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MAT95: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0.575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 * MAT95: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 = 0.015</a:t>
            </a:r>
            <a:endParaRPr lang="en-US" altLang="ja-JP" sz="1200">
              <a:latin typeface="Times New Roman"/>
              <a:ea typeface="ＭＳ Ｐゴシック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463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250B-2F8E-FACE-BF07-09DBE278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types of treatment&#10;&#10;AI-generated content may be incorrect.">
            <a:extLst>
              <a:ext uri="{FF2B5EF4-FFF2-40B4-BE49-F238E27FC236}">
                <a16:creationId xmlns:a16="http://schemas.microsoft.com/office/drawing/2014/main" id="{B86BF734-1993-585C-CD5A-A4B55B22B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" r="363" b="1674"/>
          <a:stretch>
            <a:fillRect/>
          </a:stretch>
        </p:blipFill>
        <p:spPr>
          <a:xfrm>
            <a:off x="7064749" y="1092888"/>
            <a:ext cx="4929444" cy="42052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A4DBCB-85CD-A278-25B1-289F5C854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43" b="1276"/>
          <a:stretch>
            <a:fillRect/>
          </a:stretch>
        </p:blipFill>
        <p:spPr>
          <a:xfrm>
            <a:off x="539065" y="1057818"/>
            <a:ext cx="6524847" cy="42797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33771F-FC53-E8F0-F776-EFF8F1BACFDC}"/>
              </a:ext>
            </a:extLst>
          </p:cNvPr>
          <p:cNvSpPr txBox="1"/>
          <p:nvPr/>
        </p:nvSpPr>
        <p:spPr>
          <a:xfrm>
            <a:off x="538017" y="750598"/>
            <a:ext cx="38897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(a)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 Spring season 2020</a:t>
            </a:r>
            <a:endParaRPr lang="ja-JP" altLang="en-US" sz="16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6F2E9-C32F-E5D3-6CCC-9FC5699CCB64}"/>
              </a:ext>
            </a:extLst>
          </p:cNvPr>
          <p:cNvSpPr txBox="1"/>
          <p:nvPr/>
        </p:nvSpPr>
        <p:spPr>
          <a:xfrm>
            <a:off x="7063962" y="786900"/>
            <a:ext cx="3346977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(b)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Spring season 2020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5F981-6595-6F95-9C76-D0483CBED5D9}"/>
              </a:ext>
            </a:extLst>
          </p:cNvPr>
          <p:cNvSpPr txBox="1"/>
          <p:nvPr/>
        </p:nvSpPr>
        <p:spPr>
          <a:xfrm>
            <a:off x="1073373" y="1085023"/>
            <a:ext cx="2100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0.025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D2D23-2CF3-3353-ADDB-25C67116EBC9}"/>
              </a:ext>
            </a:extLst>
          </p:cNvPr>
          <p:cNvSpPr txBox="1"/>
          <p:nvPr/>
        </p:nvSpPr>
        <p:spPr>
          <a:xfrm>
            <a:off x="1073373" y="3017237"/>
            <a:ext cx="21008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0.864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Site * Surface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: </a:t>
            </a:r>
            <a:r>
              <a:rPr lang="ja-JP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en-US" altLang="ja-JP" sz="1200" i="1" dirty="0">
                <a:latin typeface="Times New Roman"/>
                <a:ea typeface="ＭＳ Ｐゴシック"/>
                <a:cs typeface="Times New Roman"/>
              </a:rPr>
              <a:t>=</a:t>
            </a:r>
            <a:r>
              <a:rPr lang="ja-JP" altLang="en-US" sz="1200" dirty="0">
                <a:latin typeface="Times New Roman"/>
                <a:ea typeface="ＭＳ Ｐゴシック"/>
                <a:cs typeface="Times New Roman"/>
              </a:rPr>
              <a:t> 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0.0</a:t>
            </a: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38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57D68-0101-358E-4B89-A7F8A05B65DE}"/>
              </a:ext>
            </a:extLst>
          </p:cNvPr>
          <p:cNvSpPr txBox="1"/>
          <p:nvPr/>
        </p:nvSpPr>
        <p:spPr>
          <a:xfrm>
            <a:off x="7634915" y="1185097"/>
            <a:ext cx="1419567" cy="46166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=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 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0.423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42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8F23-CC0D-B783-2BD7-21B99456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types of sites&#10;&#10;AI-generated content may be incorrect.">
            <a:extLst>
              <a:ext uri="{FF2B5EF4-FFF2-40B4-BE49-F238E27FC236}">
                <a16:creationId xmlns:a16="http://schemas.microsoft.com/office/drawing/2014/main" id="{E99763AD-DF79-0281-A35D-D9938A7654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" r="990" b="1440"/>
          <a:stretch>
            <a:fillRect/>
          </a:stretch>
        </p:blipFill>
        <p:spPr>
          <a:xfrm>
            <a:off x="119921" y="1441066"/>
            <a:ext cx="7081362" cy="4244968"/>
          </a:xfrm>
          <a:prstGeom prst="rect">
            <a:avLst/>
          </a:prstGeom>
        </p:spPr>
      </p:pic>
      <p:pic>
        <p:nvPicPr>
          <p:cNvPr id="4" name="Picture 3" descr="A graph of a structure&#10;&#10;AI-generated content may be incorrect.">
            <a:extLst>
              <a:ext uri="{FF2B5EF4-FFF2-40B4-BE49-F238E27FC236}">
                <a16:creationId xmlns:a16="http://schemas.microsoft.com/office/drawing/2014/main" id="{365A35D7-A8C9-5C4F-95EE-0FF7CE2E69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4" t="-186" r="1338" b="1873"/>
          <a:stretch>
            <a:fillRect/>
          </a:stretch>
        </p:blipFill>
        <p:spPr>
          <a:xfrm>
            <a:off x="7202127" y="1442642"/>
            <a:ext cx="4687808" cy="41658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752068-D16A-F0E6-E15B-C4041A0D1AC1}"/>
              </a:ext>
            </a:extLst>
          </p:cNvPr>
          <p:cNvSpPr txBox="1"/>
          <p:nvPr/>
        </p:nvSpPr>
        <p:spPr>
          <a:xfrm>
            <a:off x="7201232" y="1147892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(d)  </a:t>
            </a:r>
            <a:r>
              <a:rPr lang="en-US" altLang="ja-JP" sz="1600">
                <a:latin typeface="Times New Roman"/>
                <a:ea typeface="ＭＳ Ｐゴシック"/>
                <a:cs typeface="Times New Roman"/>
              </a:rPr>
              <a:t>P</a:t>
            </a:r>
            <a:r>
              <a:rPr lang="ja-JP" sz="1600">
                <a:latin typeface="Times New Roman"/>
                <a:ea typeface="ＭＳ Ｐゴシック"/>
                <a:cs typeface="Times New Roman"/>
              </a:rPr>
              <a:t>ost-drought fall season 2021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C0FE6E-186C-38BB-5771-B42283467C66}"/>
              </a:ext>
            </a:extLst>
          </p:cNvPr>
          <p:cNvSpPr txBox="1"/>
          <p:nvPr/>
        </p:nvSpPr>
        <p:spPr>
          <a:xfrm>
            <a:off x="120077" y="1150926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(c)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Post-drought fall season 2021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0EE29-87E1-EEA8-DBA0-5F93938984A3}"/>
              </a:ext>
            </a:extLst>
          </p:cNvPr>
          <p:cNvSpPr txBox="1"/>
          <p:nvPr/>
        </p:nvSpPr>
        <p:spPr>
          <a:xfrm>
            <a:off x="7758771" y="1530489"/>
            <a:ext cx="1338885" cy="46166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0.650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9DDB6-FB49-9EEB-B6A4-E1E8349304AF}"/>
              </a:ext>
            </a:extLst>
          </p:cNvPr>
          <p:cNvSpPr txBox="1"/>
          <p:nvPr/>
        </p:nvSpPr>
        <p:spPr>
          <a:xfrm>
            <a:off x="850626" y="1548778"/>
            <a:ext cx="2100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0.098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365C83-8344-4A41-BBDA-6BDAFF741232}"/>
              </a:ext>
            </a:extLst>
          </p:cNvPr>
          <p:cNvSpPr txBox="1"/>
          <p:nvPr/>
        </p:nvSpPr>
        <p:spPr>
          <a:xfrm>
            <a:off x="848226" y="3430017"/>
            <a:ext cx="21008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=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 0.305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0.024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934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60FA9-A826-A503-D118-34AC6111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types of buildings&#10;&#10;AI-generated content may be incorrect.">
            <a:extLst>
              <a:ext uri="{FF2B5EF4-FFF2-40B4-BE49-F238E27FC236}">
                <a16:creationId xmlns:a16="http://schemas.microsoft.com/office/drawing/2014/main" id="{BFB1E11A-CA48-AEE8-AA31-5A65C308F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69" r="1125" b="-77"/>
          <a:stretch>
            <a:fillRect/>
          </a:stretch>
        </p:blipFill>
        <p:spPr>
          <a:xfrm>
            <a:off x="825" y="1710513"/>
            <a:ext cx="6310171" cy="38290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22A80C-E642-1D99-5BEC-750FD52FD0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15" b="2099"/>
          <a:stretch>
            <a:fillRect/>
          </a:stretch>
        </p:blipFill>
        <p:spPr>
          <a:xfrm>
            <a:off x="6307791" y="1710027"/>
            <a:ext cx="5784317" cy="3833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26E5F3-4AE7-D318-0BD9-E7C05FEF0C1D}"/>
              </a:ext>
            </a:extLst>
          </p:cNvPr>
          <p:cNvSpPr txBox="1"/>
          <p:nvPr/>
        </p:nvSpPr>
        <p:spPr>
          <a:xfrm>
            <a:off x="6311863" y="1403771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(f)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Post-drought spring seasons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2B26B-82FA-7858-F117-9C97DE7D41B6}"/>
              </a:ext>
            </a:extLst>
          </p:cNvPr>
          <p:cNvSpPr txBox="1"/>
          <p:nvPr/>
        </p:nvSpPr>
        <p:spPr>
          <a:xfrm>
            <a:off x="742" y="1398277"/>
            <a:ext cx="33469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000">
                <a:ea typeface="ＭＳ Ｐゴシック"/>
              </a:rPr>
              <a:t>(e)  </a:t>
            </a:r>
            <a:r>
              <a:rPr lang="ja-JP" altLang="en-US" sz="1600">
                <a:latin typeface="Times New Roman"/>
                <a:ea typeface="ＭＳ Ｐゴシック"/>
                <a:cs typeface="Times New Roman"/>
              </a:rPr>
              <a:t>Post-drought spring seasons</a:t>
            </a:r>
            <a:endParaRPr lang="ja-JP" altLang="en-US" sz="20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789440-60F6-541D-2720-71A96EF440C1}"/>
              </a:ext>
            </a:extLst>
          </p:cNvPr>
          <p:cNvSpPr txBox="1"/>
          <p:nvPr/>
        </p:nvSpPr>
        <p:spPr>
          <a:xfrm>
            <a:off x="421217" y="3623560"/>
            <a:ext cx="21008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0.049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Year: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 altLang="ja-JP" sz="1200" i="1" dirty="0">
                <a:latin typeface="Times New Roman"/>
                <a:ea typeface="ＭＳ Ｐゴシック"/>
                <a:cs typeface="Times New Roman"/>
              </a:rPr>
              <a:t>p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&lt;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 </a:t>
            </a: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0.001</a:t>
            </a:r>
            <a:endParaRPr lang="ja-JP" altLang="en-US" sz="1200" dirty="0"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783DB-7BA5-7652-B554-F094077EEF6F}"/>
              </a:ext>
            </a:extLst>
          </p:cNvPr>
          <p:cNvSpPr txBox="1"/>
          <p:nvPr/>
        </p:nvSpPr>
        <p:spPr>
          <a:xfrm>
            <a:off x="425878" y="2010505"/>
            <a:ext cx="210088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&lt;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 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Year: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 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Site * Surface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: </a:t>
            </a:r>
            <a:r>
              <a:rPr lang="ja-JP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en-US" altLang="ja-JP" sz="1200" i="1" dirty="0">
                <a:latin typeface="Times New Roman"/>
                <a:ea typeface="ＭＳ Ｐゴシック"/>
                <a:cs typeface="Times New Roman"/>
              </a:rPr>
              <a:t>=</a:t>
            </a:r>
            <a:r>
              <a:rPr lang="ja-JP" altLang="en-US" sz="1200" dirty="0">
                <a:latin typeface="Times New Roman"/>
                <a:ea typeface="ＭＳ Ｐゴシック"/>
                <a:cs typeface="Times New Roman"/>
              </a:rPr>
              <a:t> </a:t>
            </a:r>
            <a:r>
              <a:rPr lang="ja-JP" sz="1200" dirty="0">
                <a:latin typeface="Times New Roman"/>
                <a:ea typeface="ＭＳ Ｐゴシック"/>
                <a:cs typeface="Times New Roman"/>
              </a:rPr>
              <a:t>0.0</a:t>
            </a: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29A06-C836-1D83-5341-14200C765CB8}"/>
              </a:ext>
            </a:extLst>
          </p:cNvPr>
          <p:cNvSpPr txBox="1"/>
          <p:nvPr/>
        </p:nvSpPr>
        <p:spPr>
          <a:xfrm>
            <a:off x="6734091" y="2008151"/>
            <a:ext cx="210088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Site: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Surface: </a:t>
            </a:r>
            <a:r>
              <a:rPr lang="ja-JP" altLang="en-US" sz="1200" i="1">
                <a:latin typeface="Times New Roman"/>
                <a:ea typeface="ＭＳ Ｐゴシック"/>
                <a:cs typeface="Times New Roman"/>
              </a:rPr>
              <a:t>p 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= 0.030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ja-JP" sz="1200">
                <a:latin typeface="Times New Roman"/>
                <a:ea typeface="ＭＳ Ｐゴシック"/>
                <a:cs typeface="Times New Roman"/>
              </a:rPr>
              <a:t>Year: </a:t>
            </a:r>
            <a:r>
              <a:rPr lang="ja-JP" sz="1200" i="1">
                <a:latin typeface="Times New Roman"/>
                <a:ea typeface="ＭＳ Ｐゴシック"/>
                <a:cs typeface="Times New Roman"/>
              </a:rPr>
              <a:t>p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 &lt; 0.001</a:t>
            </a:r>
            <a:br>
              <a:rPr lang="ja-JP" altLang="en-US" sz="1200" dirty="0">
                <a:latin typeface="Times New Roman"/>
                <a:ea typeface="ＭＳ Ｐゴシック"/>
                <a:cs typeface="Times New Roman"/>
              </a:rPr>
            </a:b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Site * Year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: </a:t>
            </a:r>
            <a:r>
              <a:rPr lang="ja-JP" sz="1200" i="1">
                <a:latin typeface="Times New Roman"/>
                <a:ea typeface="ＭＳ Ｐゴシック"/>
                <a:cs typeface="Times New Roman"/>
              </a:rPr>
              <a:t>p &lt;</a:t>
            </a:r>
            <a:r>
              <a:rPr lang="ja-JP" altLang="en-US" sz="1200">
                <a:latin typeface="Times New Roman"/>
                <a:ea typeface="ＭＳ Ｐゴシック"/>
                <a:cs typeface="Times New Roman"/>
              </a:rPr>
              <a:t> </a:t>
            </a:r>
            <a:r>
              <a:rPr lang="ja-JP" sz="1200">
                <a:latin typeface="Times New Roman"/>
                <a:ea typeface="ＭＳ Ｐゴシック"/>
                <a:cs typeface="Times New Roman"/>
              </a:rPr>
              <a:t>0.0</a:t>
            </a:r>
            <a:r>
              <a:rPr lang="en-US" altLang="ja-JP" sz="1200" dirty="0">
                <a:latin typeface="Times New Roman"/>
                <a:ea typeface="ＭＳ Ｐゴシック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67876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589</cp:revision>
  <dcterms:created xsi:type="dcterms:W3CDTF">2026-02-24T08:46:10Z</dcterms:created>
  <dcterms:modified xsi:type="dcterms:W3CDTF">2026-03-01T06:03:20Z</dcterms:modified>
</cp:coreProperties>
</file>